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Fictional acceptance notes.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SQL practice with sample data. 
--- Sources and provenance (not part of the spoken script) ---
Saved presentation revision: 7
Source IDs (candidate, job or visual): cmvnmo04e0000d9w0x6je0ofp
Generated original review: HUMAN_REVIEW_REQUIRED; current saved wording requires human review.
Image IDs: None
Image provenance: USER_UPLOADED_UNVERIFIED.
User confirmation means reviewed by the user, not independently verified.
User-edited wording has not been semantically re-reviewed.
Original field slide.0.heading: No cited source.
Original field slide.0.bullet.0: cmvnmo04e0000d9w0x6je0ofp.
Original field slide.0.notes: cmvnmo04e0000d9w0x6je0ofp.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 Sources and provenance (not part of the spoken script) ---
Saved presentation revision: 7
Source IDs (candidate, job or visual): cmvnmo04e0001d9w0v85i9pnc
Generated original review: HUMAN_REVIEW_REQUIRED; current saved wording requires human review.
Image IDs: None
Image provenance: USER_UPLOADED_UNVERIFIED.
User confirmation means reviewed by the user, not independently verified.
User-edited wording has not been semantically re-reviewed.
Original field slide.1.heading: No cited source.
Original field slide.1.bullet.0: cmvnmo04e0001d9w0v85i9pnc.
Original field slide.1.notes: cmvnmo04e0001d9w0v85i9pnc.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Queried sample sales data with SQL and used Python to prepare a chart for an academic dashboard. This was a student project using synthetic data. No commercial outcomes or cloud deployment.
--- Sources and provenance (not part of the spoken script) ---
Saved presentation revision: 7
Source IDs (candidate, job or visual): cmvnmo04e0003d9w052vgnqjw
Generated original review: HUMAN_REVIEW_REQUIRED; current saved wording requires human review.
Image IDs: None
Image provenance: USER_UPLOADED_UNVERIFIED.
User confirmation means reviewed by the user, not independently verified.
User-edited wording has not been semantically re-reviewed.
Original field slide.2.heading: No cited source.
Original field slide.2.bullet.0: cmvnmo04e0003d9w052vgnqjw.
Original field slide.2.notes: cmvnmo04e0003d9w052vgnqjw.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like to discuss transferable skills and the evidence gaps for this role.
--- Sources and provenance (not part of the spoken script) ---
Saved presentation revision: 7
Source IDs (candidate, job or visual): None
Generated original review: HUMAN_REVIEW_REQUIRED; current saved wording requires human review.
Image IDs: None
Image provenance: USER_UPLOADED_UNVERIFIED.
User confirmation means reviewed by the user, not independently verified.
User-edited wording has not been semantically re-reviewed.
Original field slide.3.heading: No cited source.
Original field slide.3.bullet.0: No cited source.
Original field slide.3.notes: No cited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E5E0E"/>
          </a:solidFill>
          <a:ln w="12700">
            <a:solidFill>
              <a:srgbClr val="FE5E0E">
                <a:alpha val="0"/>
              </a:srgbClr>
            </a:solidFill>
            <a:prstDash val="solid"/>
          </a:ln>
        </p:spPr>
      </p:sp>
      <p:sp>
        <p:nvSpPr>
          <p:cNvPr id="3" name="Text 1"/>
          <p:cNvSpPr/>
          <p:nvPr/>
        </p:nvSpPr>
        <p:spPr>
          <a:xfrm>
            <a:off x="731520" y="292608"/>
            <a:ext cx="9875520" cy="256032"/>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First window saved wording</a:t>
            </a:r>
            <a:endParaRPr lang="en-US" sz="1000" dirty="0"/>
          </a:p>
        </p:txBody>
      </p:sp>
      <p:sp>
        <p:nvSpPr>
          <p:cNvPr id="4" name="Text 2"/>
          <p:cNvSpPr/>
          <p:nvPr/>
        </p:nvSpPr>
        <p:spPr>
          <a:xfrm>
            <a:off x="731520" y="713232"/>
            <a:ext cx="10744200" cy="82296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Introduction</a:t>
            </a:r>
            <a:endParaRPr lang="en-US" sz="2800" dirty="0"/>
          </a:p>
        </p:txBody>
      </p:sp>
      <p:sp>
        <p:nvSpPr>
          <p:cNvPr id="5" name="Shape 3"/>
          <p:cNvSpPr/>
          <p:nvPr/>
        </p:nvSpPr>
        <p:spPr>
          <a:xfrm>
            <a:off x="731520" y="1600200"/>
            <a:ext cx="777240" cy="0"/>
          </a:xfrm>
          <a:prstGeom prst="line">
            <a:avLst/>
          </a:prstGeom>
          <a:noFill/>
          <a:ln w="38100">
            <a:solidFill>
              <a:srgbClr val="FE5E0E"/>
            </a:solidFill>
            <a:prstDash val="solid"/>
          </a:ln>
        </p:spPr>
      </p:sp>
      <p:sp>
        <p:nvSpPr>
          <p:cNvPr id="6" name="Text 4"/>
          <p:cNvSpPr/>
          <p:nvPr/>
        </p:nvSpPr>
        <p:spPr>
          <a:xfrm>
            <a:off x="868680" y="1901952"/>
            <a:ext cx="10424160" cy="502920"/>
          </a:xfrm>
          <a:prstGeom prst="rect">
            <a:avLst/>
          </a:prstGeom>
          <a:noFill/>
          <a:ln/>
        </p:spPr>
        <p:txBody>
          <a:bodyPr wrap="square" lIns="508" tIns="508" rIns="508" bIns="508" rtlCol="0" anchor="t"/>
          <a:lstStyle/>
          <a:p>
            <a:pPr marL="228600" indent="-228600">
              <a:spcAft>
                <a:spcPts val="600"/>
              </a:spcAft>
              <a:buSzPct val="100000"/>
              <a:buChar char="•"/>
            </a:pPr>
            <a:r>
              <a:rPr lang="en-US" sz="2000" dirty="0">
                <a:solidFill>
                  <a:srgbClr val="3D3D3D"/>
                </a:solidFill>
                <a:latin typeface="Arial" pitchFamily="34" charset="0"/>
                <a:ea typeface="Arial" pitchFamily="34" charset="-122"/>
                <a:cs typeface="Arial" pitchFamily="34" charset="-120"/>
              </a:rPr>
              <a:t>Fictional Acceptance Candidate</a:t>
            </a:r>
            <a:endParaRPr lang="en-US" sz="2000" dirty="0"/>
          </a:p>
        </p:txBody>
      </p:sp>
      <p:sp>
        <p:nvSpPr>
          <p:cNvPr id="7" name="Shape 5"/>
          <p:cNvSpPr/>
          <p:nvPr/>
        </p:nvSpPr>
        <p:spPr>
          <a:xfrm>
            <a:off x="731520" y="6382512"/>
            <a:ext cx="10744200" cy="0"/>
          </a:xfrm>
          <a:prstGeom prst="line">
            <a:avLst/>
          </a:prstGeom>
          <a:noFill/>
          <a:ln w="12700">
            <a:solidFill>
              <a:srgbClr val="E3E3E3"/>
            </a:solidFill>
            <a:prstDash val="solid"/>
          </a:ln>
        </p:spPr>
      </p:sp>
      <p:sp>
        <p:nvSpPr>
          <p:cNvPr id="8" name="Text 6"/>
          <p:cNvSpPr/>
          <p:nvPr/>
        </p:nvSpPr>
        <p:spPr>
          <a:xfrm>
            <a:off x="10561320" y="6473952"/>
            <a:ext cx="914400" cy="18288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1 / 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E5E0E"/>
          </a:solidFill>
          <a:ln w="12700">
            <a:solidFill>
              <a:srgbClr val="FE5E0E">
                <a:alpha val="0"/>
              </a:srgbClr>
            </a:solidFill>
            <a:prstDash val="solid"/>
          </a:ln>
        </p:spPr>
      </p:sp>
      <p:sp>
        <p:nvSpPr>
          <p:cNvPr id="3" name="Text 1"/>
          <p:cNvSpPr/>
          <p:nvPr/>
        </p:nvSpPr>
        <p:spPr>
          <a:xfrm>
            <a:off x="731520" y="292608"/>
            <a:ext cx="9875520" cy="256032"/>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First window saved wording</a:t>
            </a:r>
            <a:endParaRPr lang="en-US" sz="1000" dirty="0"/>
          </a:p>
        </p:txBody>
      </p:sp>
      <p:sp>
        <p:nvSpPr>
          <p:cNvPr id="4" name="Text 2"/>
          <p:cNvSpPr/>
          <p:nvPr/>
        </p:nvSpPr>
        <p:spPr>
          <a:xfrm>
            <a:off x="731520" y="713232"/>
            <a:ext cx="10744200" cy="82296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Skills</a:t>
            </a:r>
            <a:endParaRPr lang="en-US" sz="2800" dirty="0"/>
          </a:p>
        </p:txBody>
      </p:sp>
      <p:sp>
        <p:nvSpPr>
          <p:cNvPr id="5" name="Shape 3"/>
          <p:cNvSpPr/>
          <p:nvPr/>
        </p:nvSpPr>
        <p:spPr>
          <a:xfrm>
            <a:off x="731520" y="1600200"/>
            <a:ext cx="777240" cy="0"/>
          </a:xfrm>
          <a:prstGeom prst="line">
            <a:avLst/>
          </a:prstGeom>
          <a:noFill/>
          <a:ln w="38100">
            <a:solidFill>
              <a:srgbClr val="FE5E0E"/>
            </a:solidFill>
            <a:prstDash val="solid"/>
          </a:ln>
        </p:spPr>
      </p:sp>
      <p:sp>
        <p:nvSpPr>
          <p:cNvPr id="6" name="Text 4"/>
          <p:cNvSpPr/>
          <p:nvPr/>
        </p:nvSpPr>
        <p:spPr>
          <a:xfrm>
            <a:off x="868680" y="1901952"/>
            <a:ext cx="10424160" cy="502920"/>
          </a:xfrm>
          <a:prstGeom prst="rect">
            <a:avLst/>
          </a:prstGeom>
          <a:noFill/>
          <a:ln/>
        </p:spPr>
        <p:txBody>
          <a:bodyPr wrap="square" lIns="508" tIns="508" rIns="508" bIns="508" rtlCol="0" anchor="t"/>
          <a:lstStyle/>
          <a:p>
            <a:pPr marL="228600" indent="-228600">
              <a:spcAft>
                <a:spcPts val="600"/>
              </a:spcAft>
              <a:buSzPct val="100000"/>
              <a:buChar char="•"/>
            </a:pPr>
            <a:r>
              <a:rPr lang="en-US" sz="2000" dirty="0">
                <a:solidFill>
                  <a:srgbClr val="3D3D3D"/>
                </a:solidFill>
                <a:latin typeface="Arial" pitchFamily="34" charset="0"/>
                <a:ea typeface="Arial" pitchFamily="34" charset="-122"/>
                <a:cs typeface="Arial" pitchFamily="34" charset="-120"/>
              </a:rPr>
              <a:t>SQL</a:t>
            </a:r>
            <a:endParaRPr lang="en-US" sz="2000" dirty="0"/>
          </a:p>
        </p:txBody>
      </p:sp>
      <p:sp>
        <p:nvSpPr>
          <p:cNvPr id="7" name="Shape 5"/>
          <p:cNvSpPr/>
          <p:nvPr/>
        </p:nvSpPr>
        <p:spPr>
          <a:xfrm>
            <a:off x="731520" y="6382512"/>
            <a:ext cx="10744200" cy="0"/>
          </a:xfrm>
          <a:prstGeom prst="line">
            <a:avLst/>
          </a:prstGeom>
          <a:noFill/>
          <a:ln w="12700">
            <a:solidFill>
              <a:srgbClr val="E3E3E3"/>
            </a:solidFill>
            <a:prstDash val="solid"/>
          </a:ln>
        </p:spPr>
      </p:sp>
      <p:sp>
        <p:nvSpPr>
          <p:cNvPr id="8" name="Text 6"/>
          <p:cNvSpPr/>
          <p:nvPr/>
        </p:nvSpPr>
        <p:spPr>
          <a:xfrm>
            <a:off x="10561320" y="6473952"/>
            <a:ext cx="914400" cy="18288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2 / 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E5E0E"/>
          </a:solidFill>
          <a:ln w="12700">
            <a:solidFill>
              <a:srgbClr val="FE5E0E">
                <a:alpha val="0"/>
              </a:srgbClr>
            </a:solidFill>
            <a:prstDash val="solid"/>
          </a:ln>
        </p:spPr>
      </p:sp>
      <p:sp>
        <p:nvSpPr>
          <p:cNvPr id="3" name="Text 1"/>
          <p:cNvSpPr/>
          <p:nvPr/>
        </p:nvSpPr>
        <p:spPr>
          <a:xfrm>
            <a:off x="731520" y="292608"/>
            <a:ext cx="9875520" cy="256032"/>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First window saved wording</a:t>
            </a:r>
            <a:endParaRPr lang="en-US" sz="1000" dirty="0"/>
          </a:p>
        </p:txBody>
      </p:sp>
      <p:sp>
        <p:nvSpPr>
          <p:cNvPr id="4" name="Text 2"/>
          <p:cNvSpPr/>
          <p:nvPr/>
        </p:nvSpPr>
        <p:spPr>
          <a:xfrm>
            <a:off x="731520" y="713232"/>
            <a:ext cx="10744200" cy="82296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Project evidence</a:t>
            </a:r>
            <a:endParaRPr lang="en-US" sz="2800" dirty="0"/>
          </a:p>
        </p:txBody>
      </p:sp>
      <p:sp>
        <p:nvSpPr>
          <p:cNvPr id="5" name="Shape 3"/>
          <p:cNvSpPr/>
          <p:nvPr/>
        </p:nvSpPr>
        <p:spPr>
          <a:xfrm>
            <a:off x="731520" y="1600200"/>
            <a:ext cx="777240" cy="0"/>
          </a:xfrm>
          <a:prstGeom prst="line">
            <a:avLst/>
          </a:prstGeom>
          <a:noFill/>
          <a:ln w="38100">
            <a:solidFill>
              <a:srgbClr val="FE5E0E"/>
            </a:solidFill>
            <a:prstDash val="solid"/>
          </a:ln>
        </p:spPr>
      </p:sp>
      <p:sp>
        <p:nvSpPr>
          <p:cNvPr id="6" name="Text 4"/>
          <p:cNvSpPr/>
          <p:nvPr/>
        </p:nvSpPr>
        <p:spPr>
          <a:xfrm>
            <a:off x="868680" y="1901952"/>
            <a:ext cx="10424160" cy="1078992"/>
          </a:xfrm>
          <a:prstGeom prst="rect">
            <a:avLst/>
          </a:prstGeom>
          <a:noFill/>
          <a:ln/>
        </p:spPr>
        <p:txBody>
          <a:bodyPr wrap="square" lIns="508" tIns="508" rIns="508" bIns="508" rtlCol="0" anchor="t"/>
          <a:lstStyle/>
          <a:p>
            <a:pPr marL="228600" indent="-228600">
              <a:spcAft>
                <a:spcPts val="600"/>
              </a:spcAft>
              <a:buSzPct val="100000"/>
              <a:buChar char="•"/>
            </a:pPr>
            <a:r>
              <a:rPr lang="en-US" sz="2000" dirty="0">
                <a:solidFill>
                  <a:srgbClr val="3D3D3D"/>
                </a:solidFill>
                <a:latin typeface="Arial" pitchFamily="34" charset="0"/>
                <a:ea typeface="Arial" pitchFamily="34" charset="-122"/>
                <a:cs typeface="Arial" pitchFamily="34" charset="-120"/>
              </a:rPr>
              <a:t>Queried sample sales data with SQL and used Python to prepare a chart for an academic dashboard. This was a student project using synthetic data. No commercial outcomes or cloud deployment.</a:t>
            </a:r>
            <a:endParaRPr lang="en-US" sz="2000" dirty="0"/>
          </a:p>
        </p:txBody>
      </p:sp>
      <p:sp>
        <p:nvSpPr>
          <p:cNvPr id="7" name="Shape 5"/>
          <p:cNvSpPr/>
          <p:nvPr/>
        </p:nvSpPr>
        <p:spPr>
          <a:xfrm>
            <a:off x="731520" y="6382512"/>
            <a:ext cx="10744200" cy="0"/>
          </a:xfrm>
          <a:prstGeom prst="line">
            <a:avLst/>
          </a:prstGeom>
          <a:noFill/>
          <a:ln w="12700">
            <a:solidFill>
              <a:srgbClr val="E3E3E3"/>
            </a:solidFill>
            <a:prstDash val="solid"/>
          </a:ln>
        </p:spPr>
      </p:sp>
      <p:sp>
        <p:nvSpPr>
          <p:cNvPr id="8" name="Text 6"/>
          <p:cNvSpPr/>
          <p:nvPr/>
        </p:nvSpPr>
        <p:spPr>
          <a:xfrm>
            <a:off x="10561320" y="6473952"/>
            <a:ext cx="914400" cy="18288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3 / 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E5E0E"/>
          </a:solidFill>
          <a:ln w="12700">
            <a:solidFill>
              <a:srgbClr val="FE5E0E">
                <a:alpha val="0"/>
              </a:srgbClr>
            </a:solidFill>
            <a:prstDash val="solid"/>
          </a:ln>
        </p:spPr>
      </p:sp>
      <p:sp>
        <p:nvSpPr>
          <p:cNvPr id="3" name="Text 1"/>
          <p:cNvSpPr/>
          <p:nvPr/>
        </p:nvSpPr>
        <p:spPr>
          <a:xfrm>
            <a:off x="731520" y="292608"/>
            <a:ext cx="9875520" cy="256032"/>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First window saved wording</a:t>
            </a:r>
            <a:endParaRPr lang="en-US" sz="1000" dirty="0"/>
          </a:p>
        </p:txBody>
      </p:sp>
      <p:sp>
        <p:nvSpPr>
          <p:cNvPr id="4" name="Text 2"/>
          <p:cNvSpPr/>
          <p:nvPr/>
        </p:nvSpPr>
        <p:spPr>
          <a:xfrm>
            <a:off x="731520" y="713232"/>
            <a:ext cx="10744200" cy="82296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Target role</a:t>
            </a:r>
            <a:endParaRPr lang="en-US" sz="2800" dirty="0"/>
          </a:p>
        </p:txBody>
      </p:sp>
      <p:sp>
        <p:nvSpPr>
          <p:cNvPr id="5" name="Shape 3"/>
          <p:cNvSpPr/>
          <p:nvPr/>
        </p:nvSpPr>
        <p:spPr>
          <a:xfrm>
            <a:off x="731520" y="1600200"/>
            <a:ext cx="777240" cy="0"/>
          </a:xfrm>
          <a:prstGeom prst="line">
            <a:avLst/>
          </a:prstGeom>
          <a:noFill/>
          <a:ln w="38100">
            <a:solidFill>
              <a:srgbClr val="FE5E0E"/>
            </a:solidFill>
            <a:prstDash val="solid"/>
          </a:ln>
        </p:spPr>
      </p:sp>
      <p:sp>
        <p:nvSpPr>
          <p:cNvPr id="6" name="Text 4"/>
          <p:cNvSpPr/>
          <p:nvPr/>
        </p:nvSpPr>
        <p:spPr>
          <a:xfrm>
            <a:off x="868680" y="1901952"/>
            <a:ext cx="10424160" cy="502920"/>
          </a:xfrm>
          <a:prstGeom prst="rect">
            <a:avLst/>
          </a:prstGeom>
          <a:noFill/>
          <a:ln/>
        </p:spPr>
        <p:txBody>
          <a:bodyPr wrap="square" lIns="508" tIns="508" rIns="508" bIns="508" rtlCol="0" anchor="t"/>
          <a:lstStyle/>
          <a:p>
            <a:pPr marL="228600" indent="-228600">
              <a:spcAft>
                <a:spcPts val="600"/>
              </a:spcAft>
              <a:buSzPct val="100000"/>
              <a:buChar char="•"/>
            </a:pPr>
            <a:r>
              <a:rPr lang="en-US" sz="2000" dirty="0">
                <a:solidFill>
                  <a:srgbClr val="3D3D3D"/>
                </a:solidFill>
                <a:latin typeface="Arial" pitchFamily="34" charset="0"/>
                <a:ea typeface="Arial" pitchFamily="34" charset="-122"/>
                <a:cs typeface="Arial" pitchFamily="34" charset="-120"/>
              </a:rPr>
              <a:t>I would like to discuss the Graduate Data Analyst role.</a:t>
            </a:r>
            <a:endParaRPr lang="en-US" sz="2000" dirty="0"/>
          </a:p>
        </p:txBody>
      </p:sp>
      <p:sp>
        <p:nvSpPr>
          <p:cNvPr id="7" name="Shape 5"/>
          <p:cNvSpPr/>
          <p:nvPr/>
        </p:nvSpPr>
        <p:spPr>
          <a:xfrm>
            <a:off x="731520" y="6382512"/>
            <a:ext cx="10744200" cy="0"/>
          </a:xfrm>
          <a:prstGeom prst="line">
            <a:avLst/>
          </a:prstGeom>
          <a:noFill/>
          <a:ln w="12700">
            <a:solidFill>
              <a:srgbClr val="E3E3E3"/>
            </a:solidFill>
            <a:prstDash val="solid"/>
          </a:ln>
        </p:spPr>
      </p:sp>
      <p:sp>
        <p:nvSpPr>
          <p:cNvPr id="8" name="Text 6"/>
          <p:cNvSpPr/>
          <p:nvPr/>
        </p:nvSpPr>
        <p:spPr>
          <a:xfrm>
            <a:off x="10561320" y="6473952"/>
            <a:ext cx="914400" cy="18288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4 / 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 window saved wording</dc:title>
  <dc:subject>Job-tailored interview presentation</dc:subject>
  <dc:creator>Advanced AI interview preparation</dc:creator>
  <cp:lastModifiedBy>Advanced AI interview preparation</cp:lastModifiedBy>
  <cp:revision>7</cp:revision>
  <dcterms:created xsi:type="dcterms:W3CDTF">2026-10-25T09:31:01Z</dcterms:created>
  <dcterms:modified xsi:type="dcterms:W3CDTF">2026-10-25T09:31:01Z</dcterms:modified>
</cp:coreProperties>
</file>